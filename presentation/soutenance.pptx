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QualiScan — détection et coût des erreurs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Détecter les pièces suspectes en maîtrisant les erreurs et la fuite entre lots.</a:t>
            </a:r>
          </a:p>
          <a:p>
            <a:pPr>
              <a:spcAft>
                <a:spcPts val="1800"/>
              </a:spcAft>
              <a:defRPr sz="2000"/>
            </a:pPr>
            <a:r>
              <a:t>Analyse reproductible dans Jupyter ; présentation modifiable.</a:t>
            </a:r>
          </a:p>
          <a:p>
            <a:pPr>
              <a:spcAft>
                <a:spcPts val="1800"/>
              </a:spcAft>
              <a:defRPr sz="2000"/>
            </a:pPr>
            <a:r>
              <a:t>Données fictives : aucune mission réelle ni effet causal démontré.</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Question et méthode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Détecter les pièces suspectes en maîtrisant les erreurs et la fuite entre lots.</a:t>
            </a:r>
          </a:p>
          <a:p>
            <a:pPr>
              <a:spcAft>
                <a:spcPts val="1800"/>
              </a:spcAft>
              <a:defRPr sz="2000"/>
            </a:pPr>
            <a:r>
              <a:t>Contrôler les clés, les doublons et les valeurs invalides avant les agrégations.</a:t>
            </a:r>
          </a:p>
          <a:p>
            <a:pPr>
              <a:spcAft>
                <a:spcPts val="1800"/>
              </a:spcAft>
              <a:defRPr sz="2000"/>
            </a:pPr>
            <a:r>
              <a:t>Lire les unités et les hypothèses du notebook avant de comparer les résultats.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Qualité des données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{'table': 'pieces', 'brut': 24060, 'doublons': 60, 'rejets': 20, 'propre': 23980}</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pieces : 23980</a:t>
            </a:r>
          </a:p>
          <a:p>
            <a:pPr>
              <a:spcAft>
                <a:spcPts val="1800"/>
              </a:spcAft>
              <a:defRPr sz="2000"/>
            </a:pPr>
            <a:r>
              <a:t>train : 14400</a:t>
            </a:r>
          </a:p>
          <a:p>
            <a:pPr>
              <a:spcAft>
                <a:spcPts val="1800"/>
              </a:spcAft>
              <a:defRPr sz="2000"/>
            </a:pPr>
            <a:r>
              <a:t>validation : 4780</a:t>
            </a:r>
          </a:p>
          <a:p>
            <a:pPr>
              <a:spcAft>
                <a:spcPts val="1800"/>
              </a:spcAft>
              <a:defRPr sz="2000"/>
            </a:pPr>
            <a:r>
              <a:t>test : 4800</a:t>
            </a:r>
          </a:p>
          <a:p>
            <a:pPr>
              <a:spcAft>
                <a:spcPts val="1800"/>
              </a:spcAft>
              <a:defRPr sz="2000"/>
            </a:pPr>
            <a:r>
              <a:t>seuil validation : 0.0400</a:t>
            </a:r>
          </a:p>
          <a:p>
            <a:pPr>
              <a:spcAft>
                <a:spcPts val="1800"/>
              </a:spcAft>
              <a:defRPr sz="2000"/>
            </a:pPr>
            <a:r>
              <a:t>cout fn : 20</a:t>
            </a:r>
          </a:p>
          <a:p>
            <a:pPr>
              <a:spcAft>
                <a:spcPts val="1800"/>
              </a:spcAft>
              <a:defRPr sz="2000"/>
            </a:pPr>
            <a:r>
              <a:t>cout fp : 1</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roc auc test : 0.8938</a:t>
            </a:r>
          </a:p>
          <a:p>
            <a:pPr>
              <a:spcAft>
                <a:spcPts val="1800"/>
              </a:spcAft>
              <a:defRPr sz="2000"/>
            </a:pPr>
            <a:r>
              <a:t>auc ic95 bas : 0.8822</a:t>
            </a:r>
          </a:p>
          <a:p>
            <a:pPr>
              <a:spcAft>
                <a:spcPts val="1800"/>
              </a:spcAft>
              <a:defRPr sz="2000"/>
            </a:pPr>
            <a:r>
              <a:t>auc ic95 haut : 0.9082</a:t>
            </a:r>
          </a:p>
          <a:p>
            <a:pPr>
              <a:spcAft>
                <a:spcPts val="1800"/>
              </a:spcAft>
              <a:defRPr sz="2000"/>
            </a:pPr>
            <a:r>
              <a:t>average precision test : 0.7575</a:t>
            </a:r>
          </a:p>
          <a:p>
            <a:pPr>
              <a:spcAft>
                <a:spcPts val="1800"/>
              </a:spcAft>
              <a:defRPr sz="2000"/>
            </a:pPr>
            <a:r>
              <a:t>precision test : 0.3418</a:t>
            </a:r>
          </a:p>
          <a:p>
            <a:pPr>
              <a:spcAft>
                <a:spcPts val="1800"/>
              </a:spcAft>
              <a:defRPr sz="2000"/>
            </a:pPr>
            <a:r>
              <a:t>recall test : 0.9641</a:t>
            </a:r>
          </a:p>
          <a:p>
            <a:pPr>
              <a:spcAft>
                <a:spcPts val="1800"/>
              </a:spcAft>
              <a:defRPr sz="2000"/>
            </a:pPr>
            <a:r>
              <a:t>f1 test : 0.5047</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brier test : 0.0996</a:t>
            </a:r>
          </a:p>
          <a:p>
            <a:pPr>
              <a:spcAft>
                <a:spcPts val="1800"/>
              </a:spcAft>
              <a:defRPr sz="2000"/>
            </a:pPr>
            <a:r>
              <a:t>faux negatifs : 39</a:t>
            </a:r>
          </a:p>
          <a:p>
            <a:pPr>
              <a:spcAft>
                <a:spcPts val="1800"/>
              </a:spcAft>
              <a:defRPr sz="2000"/>
            </a:pPr>
            <a:r>
              <a:t>faux positifs : 2016</a:t>
            </a:r>
          </a:p>
          <a:p>
            <a:pPr>
              <a:spcAft>
                <a:spcPts val="1800"/>
              </a:spcAft>
              <a:defRPr sz="2000"/>
            </a:pPr>
            <a:r>
              <a:t>roc auc rf test : 0.8825</a:t>
            </a:r>
          </a:p>
          <a:p>
            <a:pPr>
              <a:spcAft>
                <a:spcPts val="1800"/>
              </a:spcAft>
              <a:defRPr sz="2000"/>
            </a:pPr>
            <a:r>
              <a:t>ari clustering test : 0.2307</a:t>
            </a:r>
          </a:p>
          <a:p>
            <a:pPr>
              <a:spcAft>
                <a:spcPts val="1800"/>
              </a:spcAft>
              <a:defRPr sz="2000"/>
            </a:pPr>
            <a:r>
              <a:t>rmse regression mm : 0.5486</a:t>
            </a:r>
          </a:p>
          <a:p>
            <a:pPr>
              <a:spcAft>
                <a:spcPts val="1800"/>
              </a:spcAft>
              <a:defRPr sz="2000"/>
            </a:pPr>
            <a:r>
              <a:t>rmse baseline mm : 0.5612</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Indicateurs recalculés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cv auc moyenne : 0.8996</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Résultats à retenir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14400 apprentissage, 4780 validation et 4800 test, sans lot commun.</a:t>
            </a:r>
          </a:p>
          <a:p>
            <a:pPr>
              <a:spcAft>
                <a:spcPts val="1800"/>
              </a:spcAft>
              <a:defRPr sz="2000"/>
            </a:pPr>
            <a:r>
              <a:t>Seuil sur validation : 0.04 ; AUC test 0.894, rappel 0.964.</a:t>
            </a:r>
          </a:p>
          <a:p>
            <a:pPr>
              <a:spcAft>
                <a:spcPts val="1800"/>
              </a:spcAft>
              <a:defRPr sz="2000"/>
            </a:pPr>
            <a:r>
              <a:t>Régression sans étiquette : RMSE 0.549 mm, baseline 0.561 mm.</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Courbe roc</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9</a:t>
            </a:r>
          </a:p>
        </p:txBody>
      </p:sp>
      <p:pic>
        <p:nvPicPr>
          <p:cNvPr id="5" name="Picture 4" descr="courbe_roc.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Choix seuil validation</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10</a:t>
            </a:r>
          </a:p>
        </p:txBody>
      </p:sp>
      <p:pic>
        <p:nvPicPr>
          <p:cNvPr id="5" name="Picture 4" descr="choix_seuil_validation.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Matrice confusion</a:t>
            </a:r>
          </a:p>
        </p:txBody>
      </p:sp>
      <p:sp>
        <p:nvSpPr>
          <p:cNvPr id="3" name="TextBox 2"/>
          <p:cNvSpPr txBox="1"/>
          <p:nvPr/>
        </p:nvSpPr>
        <p:spPr>
          <a:xfrm>
            <a:off x="640080" y="1371600"/>
            <a:ext cx="10881360" cy="4754880"/>
          </a:xfrm>
          <a:prstGeom prst="rect">
            <a:avLst/>
          </a:prstGeom>
          <a:noFill/>
        </p:spPr>
        <p:txBody>
          <a:bodyPr wrap="square">
            <a:spAutoFit/>
          </a:bodyPr>
          <a:lstStyle/>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11</a:t>
            </a:r>
          </a:p>
        </p:txBody>
      </p:sp>
      <p:pic>
        <p:nvPicPr>
          <p:cNvPr id="5" name="Picture 4" descr="matrice_confusion.png"/>
          <p:cNvPicPr>
            <a:picLocks noChangeAspect="1"/>
          </p:cNvPicPr>
          <p:nvPr/>
        </p:nvPicPr>
        <p:blipFill>
          <a:blip r:embed="rId2"/>
          <a:stretch>
            <a:fillRect/>
          </a:stretch>
        </p:blipFill>
        <p:spPr>
          <a:xfrm>
            <a:off x="914400" y="1325880"/>
            <a:ext cx="10332720" cy="489204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4. Séparer les lots et prévenir les fuites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Les mesures d’un même lot partagent une dérive de fabrication. Une séparation aléatoire des pièces aurait laissé le modèle retrouver cette dérive dans le test. Les lots sont donc séparés avant l’imputation, la standardisation et l’apprentissage.</a:t>
            </a:r>
          </a:p>
          <a:p>
            <a:pPr>
              <a:spcAft>
                <a:spcPts val="1800"/>
              </a:spcAft>
              <a:defRPr sz="2000"/>
            </a:pPr>
            <a:r>
              <a:t>L’imputation médiane ajoute un indicateur de valeur absente. Les transformations du pipeline sont ajustées uniquement sur l’apprentissage, y compris à l’intérieur des cinq plis de validation croisée. Les fichiers de modèles permettent de réappliquer le même traitement à de nouvelles mesures.</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5. Choisir un seuil selon le coût métier</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validation minimise 20 × défauts manqués + fausses alertes. Le seuil retenu est 0.04. Ce coût est une convention pédagogique, pas une perte financière mesurée.</a:t>
            </a:r>
          </a:p>
          <a:p>
            <a:pPr>
              <a:spcAft>
                <a:spcPts val="1800"/>
              </a:spcAft>
              <a:defRPr sz="2000"/>
            </a:pPr>
            <a:r>
              <a:t>Au seuil retenu, le coût conventionnel sur test atteint 2796 unités. Le seuil 0,50 est présenté uniquement comme comparaison descriptive après gel du modèle : il ne sert pas à choisir une nouvelle configuration.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6. Évaluer le classement et les erreurs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L’AUC ROC est 0.894 et l’average precision 0.757, à comparer à une prévalence test de 22.6%. L’AUC mesure le classement et ne décrit pas à elle seule le volume d’alertes au seuil opérationnel.</a:t>
            </a:r>
          </a:p>
          <a:p>
            <a:pPr>
              <a:spcAft>
                <a:spcPts val="1800"/>
              </a:spcAft>
              <a:defRPr sz="2000"/>
            </a:pPr>
            <a:r>
              <a:t>Le rappel 96.4% laisse 39 défauts non détectés. La précision 34.2% signifie qu’une part importante des alertes concerne des pièces conformes. Le taux de fausses alertes parmi les conformes est de 54.3%.</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7. Anticiper la charge et un changement de prévalence</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Les scénarios ci-dessous conservent hypothétiquement le rappel et le taux de fausses alertes du test. Ils appliquent la formule de Bayes sur 1 000 pièces. Ils illustrent qu’une faible prévalence peut fortement réduire la précision même avec le même modèle.</a:t>
            </a:r>
          </a:p>
          <a:p>
            <a:pPr>
              <a:spcAft>
                <a:spcPts val="1800"/>
              </a:spcAft>
              <a:defRPr sz="2000"/>
            </a:pPr>
            <a:r>
              <a:t>Ces scénarios ne sont pas des prévisions de production : une dérive des mesures peut aussi modifier les taux d’erreur. Il faut suivre simultanément prévalence, délais de contrôle, taux de confirmation et défauts découverts après libération.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8. Situer les modèles complémentaires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La forêt aléatoire est évaluée séparément et obtient une AUC de 0.882. Le test ne doit pas devenir un outil de sélection répétée. Le clustering à deux groupes donne un ARI de 0.231 avec les étiquettes ; ses groupes ne remplacent donc pas une décision de conformité.</a:t>
            </a:r>
          </a:p>
          <a:p>
            <a:pPr>
              <a:spcAft>
                <a:spcPts val="1800"/>
              </a:spcAft>
              <a:defRPr sz="2000"/>
            </a:pPr>
            <a:r>
              <a:t>La régression de l’épaisseur manquante atteint une RMSE de 0.549 mm contre 0.561 mm pour la médiane d’apprentissage, soit 2.2% de réduction relative. Ce gain limité doit être confronté à la tolérance industrielle, absente du jeu fictif.</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Actions proposées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Conserver le test fermé lors du choix du seuil.</a:t>
            </a:r>
          </a:p>
          <a:p>
            <a:pPr>
              <a:spcAft>
                <a:spcPts val="1800"/>
              </a:spcAft>
              <a:defRPr sz="2000"/>
            </a:pPr>
            <a:r>
              <a:t>Soumettre les pièces suspectes à expertise humaine ; surveiller dérive et prévalence.</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extBox 1"/>
          <p:cNvSpPr txBox="1"/>
          <p:nvPr/>
        </p:nvSpPr>
        <p:spPr>
          <a:xfrm>
            <a:off x="594360" y="365760"/>
            <a:ext cx="10972800" cy="777240"/>
          </a:xfrm>
          <a:prstGeom prst="rect">
            <a:avLst/>
          </a:prstGeom>
          <a:noFill/>
        </p:spPr>
        <p:txBody>
          <a:bodyPr wrap="none">
            <a:spAutoFit/>
          </a:bodyPr>
          <a:lstStyle/>
          <a:p>
            <a:pPr>
              <a:defRPr sz="2800" b="1">
                <a:solidFill>
                  <a:srgbClr val="14505F"/>
                </a:solidFill>
              </a:defRPr>
            </a:pPr>
            <a:r>
              <a:t>Limites et prochaines étapes</a:t>
            </a:r>
          </a:p>
        </p:txBody>
      </p:sp>
      <p:sp>
        <p:nvSpPr>
          <p:cNvPr id="3" name="TextBox 2"/>
          <p:cNvSpPr txBox="1"/>
          <p:nvPr/>
        </p:nvSpPr>
        <p:spPr>
          <a:xfrm>
            <a:off x="640080" y="1371600"/>
            <a:ext cx="10881360" cy="4754880"/>
          </a:xfrm>
          <a:prstGeom prst="rect">
            <a:avLst/>
          </a:prstGeom>
          <a:noFill/>
        </p:spPr>
        <p:txBody>
          <a:bodyPr wrap="square">
            <a:spAutoFit/>
          </a:bodyPr>
          <a:lstStyle/>
          <a:p>
            <a:pPr>
              <a:spcAft>
                <a:spcPts val="1800"/>
              </a:spcAft>
              <a:defRPr sz="2000"/>
            </a:pPr>
            <a:r>
              <a:t>Simulation physique, aucune capacité démontrée sur de vraies pièces.</a:t>
            </a:r>
          </a:p>
          <a:p>
            <a:pPr>
              <a:spcAft>
                <a:spcPts val="1800"/>
              </a:spcAft>
              <a:defRPr sz="2000"/>
            </a:pPr>
            <a:r>
              <a:t>Coût 20:1 conventionnel, à revoir selon risque métier.</a:t>
            </a:r>
          </a:p>
          <a:p>
            <a:pPr>
              <a:spcAft>
                <a:spcPts val="1800"/>
              </a:spcAft>
              <a:defRPr sz="2000"/>
            </a:pPr>
            <a:r>
              <a:t>Forêt évaluée séparément, pas de sélection après lecture du test.</a:t>
            </a:r>
          </a:p>
          <a:p>
            <a:pPr>
              <a:spcAft>
                <a:spcPts val="1800"/>
              </a:spcAft>
              <a:defRPr sz="2000"/>
            </a:pPr>
            <a:r>
              <a:t>Bootstrap par lot ; régression évaluée sur valeurs observées, hypothèse de manque aléatoire.</a:t>
            </a:r>
          </a:p>
          <a:p>
            <a:pPr>
              <a:spcAft>
                <a:spcPts val="1800"/>
              </a:spcAft>
              <a:defRPr sz="2000"/>
            </a:pPr>
            <a:r>
              <a:t>Adapter les hypothèses et valider sur des données réelles avant toute décision.</a:t>
            </a:r>
          </a:p>
        </p:txBody>
      </p:sp>
      <p:sp>
        <p:nvSpPr>
          <p:cNvPr id="4" name="TextBox 3"/>
          <p:cNvSpPr txBox="1"/>
          <p:nvPr/>
        </p:nvSpPr>
        <p:spPr>
          <a:xfrm>
            <a:off x="640080" y="6446520"/>
            <a:ext cx="10972800" cy="228600"/>
          </a:xfrm>
          <a:prstGeom prst="rect">
            <a:avLst/>
          </a:prstGeom>
          <a:noFill/>
        </p:spPr>
        <p:txBody>
          <a:bodyPr wrap="none">
            <a:spAutoFit/>
          </a:bodyPr>
          <a:lstStyle/>
          <a:p>
            <a:pPr>
              <a:defRPr sz="1000"/>
            </a:pPr>
            <a:r>
              <a:t>Simulation pédagogique • données synthétiques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QualiScan</dc:title>
  <dc:subject>Analyse de données — projet personnel sur données synthétiques</dc:subject>
  <dc:creator>Imad Kaanane</dc:creator>
  <cp:keywords/>
  <dc:description>generated using python-pptx</dc:description>
  <cp:lastModifiedBy>Imad Kaanane</cp:lastModifiedBy>
  <cp:revision>1</cp:revision>
  <dcterms:created xsi:type="dcterms:W3CDTF">2013-01-27T09:14:16Z</dcterms:created>
  <dcterms:modified xsi:type="dcterms:W3CDTF">2013-01-27T09:15:58Z</dcterms:modified>
  <cp:category/>
</cp:coreProperties>
</file>